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A535"/>
    <a:srgbClr val="66FF33"/>
    <a:srgbClr val="89FBA4"/>
    <a:srgbClr val="064A86"/>
    <a:srgbClr val="E7F4FE"/>
    <a:srgbClr val="FFFFFF"/>
    <a:srgbClr val="9BBB59"/>
    <a:srgbClr val="39B0D4"/>
    <a:srgbClr val="727272"/>
    <a:srgbClr val="01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240" y="6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ih.gov.in/" TargetMode="External"/><Relationship Id="rId3" Type="http://schemas.openxmlformats.org/officeDocument/2006/relationships/hyperlink" Target="https://www.icao.int/publications/documents/9303_p1_cons_en.pdf?utm_source=chatgpt.com" TargetMode="External"/><Relationship Id="rId7" Type="http://schemas.openxmlformats.org/officeDocument/2006/relationships/hyperlink" Target="https://github.com/qcf-568/DocTamper?utm_source=chatgpt.com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PaddlePaddle/PaddleOCR" TargetMode="External"/><Relationship Id="rId5" Type="http://schemas.openxmlformats.org/officeDocument/2006/relationships/hyperlink" Target="https://openaccess.thecvf.com/content/CVPR2023/html/Guillaro_TruFor_Leveraging_All-Round_Clues_for_Trustworthy_Image_Forgery_Detection_and_CVPR_2023_paper.html?utm_source=chatgpt.com" TargetMode="External"/><Relationship Id="rId4" Type="http://schemas.openxmlformats.org/officeDocument/2006/relationships/hyperlink" Target="https://openaccess.thecvf.com/content_CVPR_2019/html/Deng_ArcFace_Additive_Angular_Margin_Loss_for_Deep_Face_Recognition_CVPR_2019_paper.html?utm_source=chatgpt.com" TargetMode="External"/><Relationship Id="rId9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323850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1329590"/>
            <a:ext cx="5924550" cy="42711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SIH26188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Al-Based Fake Identity &amp; Document Screening System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Blockchain &amp; Cybersecurity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Name-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TechScale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FB27455-A21E-6829-6ABA-1161A1CBFFDC}"/>
              </a:ext>
            </a:extLst>
          </p:cNvPr>
          <p:cNvSpPr/>
          <p:nvPr/>
        </p:nvSpPr>
        <p:spPr>
          <a:xfrm>
            <a:off x="54353" y="1550846"/>
            <a:ext cx="4136177" cy="4730584"/>
          </a:xfrm>
          <a:prstGeom prst="roundRect">
            <a:avLst>
              <a:gd name="adj" fmla="val 5194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EAD8CD-0836-C891-BD0E-9256AB407FF2}"/>
              </a:ext>
            </a:extLst>
          </p:cNvPr>
          <p:cNvSpPr txBox="1"/>
          <p:nvPr/>
        </p:nvSpPr>
        <p:spPr>
          <a:xfrm>
            <a:off x="25679" y="2104733"/>
            <a:ext cx="4096504" cy="2048168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ctr"/>
            <a:r>
              <a:rPr lang="en-US" sz="1600" b="1" dirty="0">
                <a:latin typeface="Aptos" panose="020B0004020202020204" pitchFamily="34" charset="0"/>
              </a:rPr>
              <a:t>MEIYARI: </a:t>
            </a:r>
            <a:r>
              <a:rPr lang="en-US" sz="1600" dirty="0">
                <a:latin typeface="Aptos" panose="020B0004020202020204" pitchFamily="34" charset="0"/>
              </a:rPr>
              <a:t>An AI-powered border verification system that automatically screens and verifies identity and travel documents, detects forgery and tampering, and delivers fast, explainable verification results to authorized officers.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4A3759E-1CC9-6B3F-300B-52C5822F53F9}"/>
              </a:ext>
            </a:extLst>
          </p:cNvPr>
          <p:cNvSpPr/>
          <p:nvPr/>
        </p:nvSpPr>
        <p:spPr>
          <a:xfrm>
            <a:off x="7967779" y="1565226"/>
            <a:ext cx="4166175" cy="4730585"/>
          </a:xfrm>
          <a:prstGeom prst="roundRect">
            <a:avLst>
              <a:gd name="adj" fmla="val 7957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058C155-6778-D752-CA47-5FB51C2EEB47}"/>
              </a:ext>
            </a:extLst>
          </p:cNvPr>
          <p:cNvGrpSpPr/>
          <p:nvPr/>
        </p:nvGrpSpPr>
        <p:grpSpPr>
          <a:xfrm>
            <a:off x="64999" y="3666703"/>
            <a:ext cx="4096503" cy="1207592"/>
            <a:chOff x="481592" y="1700588"/>
            <a:chExt cx="4866185" cy="141303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29450791-40A0-38BF-D6DE-9BD45CC79B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644" t="9285" r="4640" b="10818"/>
            <a:stretch>
              <a:fillRect/>
            </a:stretch>
          </p:blipFill>
          <p:spPr>
            <a:xfrm>
              <a:off x="481592" y="1700588"/>
              <a:ext cx="4866185" cy="1413033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CDBC670-F491-539D-4EB1-89EE75F37EE9}"/>
                </a:ext>
              </a:extLst>
            </p:cNvPr>
            <p:cNvSpPr/>
            <p:nvPr/>
          </p:nvSpPr>
          <p:spPr>
            <a:xfrm>
              <a:off x="2561561" y="2073757"/>
              <a:ext cx="988015" cy="119063"/>
            </a:xfrm>
            <a:prstGeom prst="rect">
              <a:avLst/>
            </a:prstGeom>
            <a:solidFill>
              <a:srgbClr val="064A86"/>
            </a:solidFill>
            <a:ln>
              <a:solidFill>
                <a:srgbClr val="064A8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MEIYARI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32672" y="6433925"/>
            <a:ext cx="2844800" cy="365125"/>
          </a:xfrm>
        </p:spPr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F1FB58D-E91C-5DB3-D45E-563BAE8D84EB}"/>
              </a:ext>
            </a:extLst>
          </p:cNvPr>
          <p:cNvSpPr txBox="1"/>
          <p:nvPr/>
        </p:nvSpPr>
        <p:spPr>
          <a:xfrm>
            <a:off x="1011522" y="1660566"/>
            <a:ext cx="2707767" cy="549212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b="1" dirty="0">
                <a:solidFill>
                  <a:srgbClr val="20497D"/>
                </a:solidFill>
                <a:latin typeface="Aptos"/>
              </a:rPr>
              <a:t>1</a:t>
            </a:r>
            <a:r>
              <a:rPr lang="en-US" b="1" dirty="0">
                <a:solidFill>
                  <a:srgbClr val="20497D"/>
                </a:solidFill>
                <a:latin typeface="Aptos"/>
              </a:rPr>
              <a:t>.</a:t>
            </a:r>
            <a:r>
              <a:rPr b="1" dirty="0">
                <a:solidFill>
                  <a:srgbClr val="20497D"/>
                </a:solidFill>
                <a:latin typeface="Aptos"/>
              </a:rPr>
              <a:t> WHAT WE BUILD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F7A5F62-D07F-289E-9A77-F0AF76FE9D1C}"/>
              </a:ext>
            </a:extLst>
          </p:cNvPr>
          <p:cNvSpPr txBox="1"/>
          <p:nvPr/>
        </p:nvSpPr>
        <p:spPr>
          <a:xfrm>
            <a:off x="4320148" y="1602741"/>
            <a:ext cx="3534297" cy="73984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r>
              <a:rPr b="1" dirty="0">
                <a:solidFill>
                  <a:srgbClr val="20497D"/>
                </a:solidFill>
                <a:latin typeface="Aptos"/>
              </a:rPr>
              <a:t>2</a:t>
            </a:r>
            <a:r>
              <a:rPr lang="en-US" b="1" dirty="0">
                <a:solidFill>
                  <a:srgbClr val="20497D"/>
                </a:solidFill>
                <a:latin typeface="Aptos"/>
              </a:rPr>
              <a:t>.</a:t>
            </a:r>
            <a:r>
              <a:rPr b="1" dirty="0">
                <a:solidFill>
                  <a:srgbClr val="20497D"/>
                </a:solidFill>
                <a:latin typeface="Aptos"/>
              </a:rPr>
              <a:t> HOW IT SOLVES THE PROBLEM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9A020C8-31CB-59CA-C55C-4AB5EDD88827}"/>
              </a:ext>
            </a:extLst>
          </p:cNvPr>
          <p:cNvSpPr txBox="1"/>
          <p:nvPr/>
        </p:nvSpPr>
        <p:spPr>
          <a:xfrm>
            <a:off x="4274836" y="2081605"/>
            <a:ext cx="3663915" cy="3861437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lvl="0"/>
            <a:r>
              <a:rPr lang="en-US" sz="1600" dirty="0">
                <a:solidFill>
                  <a:srgbClr val="1F2937"/>
                </a:solidFill>
                <a:latin typeface="Aptos"/>
                <a:ea typeface="+mn-ea"/>
              </a:rPr>
              <a:t>• Automated Verification: AI replaces slow manual screening with rapid multi-level checks.</a:t>
            </a:r>
          </a:p>
          <a:p>
            <a:pPr lvl="0"/>
            <a:endParaRPr lang="en-US" sz="1600" dirty="0">
              <a:solidFill>
                <a:srgbClr val="1F2937"/>
              </a:solidFill>
              <a:latin typeface="Aptos"/>
              <a:ea typeface="+mn-ea"/>
            </a:endParaRPr>
          </a:p>
          <a:p>
            <a:pPr lvl="0"/>
            <a:r>
              <a:rPr lang="en-US" sz="1600" dirty="0">
                <a:solidFill>
                  <a:srgbClr val="1F2937"/>
                </a:solidFill>
                <a:latin typeface="Aptos"/>
                <a:ea typeface="+mn-ea"/>
              </a:rPr>
              <a:t>• Fraud Detection: Detects forged, altered &amp; inconsistent documents.</a:t>
            </a:r>
          </a:p>
          <a:p>
            <a:pPr lvl="0"/>
            <a:endParaRPr lang="en-US" sz="1600" dirty="0">
              <a:solidFill>
                <a:srgbClr val="1F2937"/>
              </a:solidFill>
              <a:latin typeface="Aptos"/>
              <a:ea typeface="+mn-ea"/>
            </a:endParaRPr>
          </a:p>
          <a:p>
            <a:pPr lvl="0"/>
            <a:r>
              <a:rPr lang="en-US" sz="1600" dirty="0">
                <a:solidFill>
                  <a:srgbClr val="1F2937"/>
                </a:solidFill>
                <a:latin typeface="Aptos"/>
                <a:ea typeface="+mn-ea"/>
              </a:rPr>
              <a:t>• Risk-Based Decision: Combines AI, rules &amp; trusted checks into an explainable risk result.</a:t>
            </a:r>
          </a:p>
          <a:p>
            <a:pPr lvl="0"/>
            <a:endParaRPr lang="en-US" sz="1600" dirty="0">
              <a:solidFill>
                <a:srgbClr val="1F2937"/>
              </a:solidFill>
              <a:latin typeface="Aptos"/>
              <a:ea typeface="+mn-ea"/>
            </a:endParaRPr>
          </a:p>
          <a:p>
            <a:pPr lvl="0"/>
            <a:r>
              <a:rPr lang="en-US" sz="1600" dirty="0">
                <a:solidFill>
                  <a:srgbClr val="1F2937"/>
                </a:solidFill>
                <a:latin typeface="Aptos"/>
                <a:ea typeface="+mn-ea"/>
              </a:rPr>
              <a:t>• Investigation Ready: Maintains a tamper-evident trail for later investigation</a:t>
            </a:r>
            <a:r>
              <a:rPr lang="en-US" sz="1600" dirty="0"/>
              <a:t>.</a:t>
            </a:r>
            <a:endParaRPr lang="en-US" sz="1600" dirty="0">
              <a:solidFill>
                <a:srgbClr val="1F2937"/>
              </a:solidFill>
              <a:latin typeface="Apto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F3E8A41-F9F0-DC45-0DFE-59CCD46C8A17}"/>
              </a:ext>
            </a:extLst>
          </p:cNvPr>
          <p:cNvSpPr txBox="1"/>
          <p:nvPr/>
        </p:nvSpPr>
        <p:spPr>
          <a:xfrm>
            <a:off x="8922103" y="1633883"/>
            <a:ext cx="2330945" cy="422339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r>
              <a:rPr b="1" dirty="0">
                <a:solidFill>
                  <a:srgbClr val="20497D"/>
                </a:solidFill>
                <a:latin typeface="Aptos"/>
              </a:rPr>
              <a:t>3</a:t>
            </a:r>
            <a:r>
              <a:rPr lang="en-US" b="1" dirty="0">
                <a:solidFill>
                  <a:srgbClr val="20497D"/>
                </a:solidFill>
                <a:latin typeface="Aptos"/>
              </a:rPr>
              <a:t>.</a:t>
            </a:r>
            <a:r>
              <a:rPr b="1" dirty="0">
                <a:solidFill>
                  <a:srgbClr val="20497D"/>
                </a:solidFill>
                <a:latin typeface="Aptos"/>
              </a:rPr>
              <a:t> WHY IT IS UNIQUE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7C5809E-CF09-F608-352C-DB5DF332B548}"/>
              </a:ext>
            </a:extLst>
          </p:cNvPr>
          <p:cNvSpPr txBox="1"/>
          <p:nvPr/>
        </p:nvSpPr>
        <p:spPr>
          <a:xfrm>
            <a:off x="8112223" y="3439867"/>
            <a:ext cx="3992703" cy="2913514"/>
          </a:xfrm>
          <a:prstGeom prst="rect">
            <a:avLst/>
          </a:prstGeom>
          <a:noFill/>
        </p:spPr>
        <p:txBody>
          <a:bodyPr wrap="square" lIns="45720" rIns="45720" anchor="t">
            <a:normAutofit fontScale="92500"/>
          </a:bodyPr>
          <a:lstStyle/>
          <a:p>
            <a:r>
              <a:rPr lang="en-US" sz="1600" b="1" dirty="0">
                <a:latin typeface="Aptos" panose="020B0004020202020204" pitchFamily="34" charset="0"/>
              </a:rPr>
              <a:t>ONE-FOR-ALL VERIFICATION</a:t>
            </a:r>
            <a:br>
              <a:rPr lang="en-US" sz="1600" dirty="0">
                <a:latin typeface="Aptos" panose="020B0004020202020204" pitchFamily="34" charset="0"/>
              </a:rPr>
            </a:br>
            <a:r>
              <a:rPr lang="en-US" sz="1600" dirty="0">
                <a:latin typeface="Aptos" panose="020B0004020202020204" pitchFamily="34" charset="0"/>
              </a:rPr>
              <a:t>One unified pipeline for multiple identity &amp; travel documents-without separate verification systems for each document type.</a:t>
            </a:r>
          </a:p>
          <a:p>
            <a:endParaRPr lang="en-US" sz="1600" dirty="0">
              <a:latin typeface="Aptos" panose="020B0004020202020204" pitchFamily="34" charset="0"/>
            </a:endParaRPr>
          </a:p>
          <a:p>
            <a:r>
              <a:rPr lang="en-US" sz="1600" b="1" dirty="0">
                <a:latin typeface="Aptos" panose="020B0004020202020204" pitchFamily="34" charset="0"/>
              </a:rPr>
              <a:t>EXPLAINABLE AI FORENSICS</a:t>
            </a:r>
            <a:br>
              <a:rPr lang="en-US" sz="1600" dirty="0">
                <a:latin typeface="Aptos" panose="020B0004020202020204" pitchFamily="34" charset="0"/>
              </a:rPr>
            </a:br>
            <a:r>
              <a:rPr lang="en-US" sz="1600" dirty="0">
                <a:latin typeface="Aptos" panose="020B0004020202020204" pitchFamily="34" charset="0"/>
              </a:rPr>
              <a:t>Shows </a:t>
            </a:r>
            <a:r>
              <a:rPr lang="en-US" sz="1600" b="1" dirty="0">
                <a:latin typeface="Aptos" panose="020B0004020202020204" pitchFamily="34" charset="0"/>
              </a:rPr>
              <a:t>where</a:t>
            </a:r>
            <a:r>
              <a:rPr lang="en-US" sz="1600" dirty="0">
                <a:latin typeface="Aptos" panose="020B0004020202020204" pitchFamily="34" charset="0"/>
              </a:rPr>
              <a:t> and </a:t>
            </a:r>
            <a:r>
              <a:rPr lang="en-US" sz="1600" b="1" dirty="0">
                <a:latin typeface="Aptos" panose="020B0004020202020204" pitchFamily="34" charset="0"/>
              </a:rPr>
              <a:t>why</a:t>
            </a:r>
            <a:r>
              <a:rPr lang="en-US" sz="1600" dirty="0">
                <a:latin typeface="Aptos" panose="020B0004020202020204" pitchFamily="34" charset="0"/>
              </a:rPr>
              <a:t> a document is suspicious.</a:t>
            </a:r>
          </a:p>
          <a:p>
            <a:endParaRPr lang="en-US" sz="1600" dirty="0">
              <a:latin typeface="Aptos" panose="020B0004020202020204" pitchFamily="34" charset="0"/>
            </a:endParaRPr>
          </a:p>
          <a:p>
            <a:r>
              <a:rPr lang="en-US" sz="1600" b="1" dirty="0">
                <a:latin typeface="Aptos" panose="020B0004020202020204" pitchFamily="34" charset="0"/>
              </a:rPr>
              <a:t>MULTI-LAYER FRAUD DETECTION</a:t>
            </a:r>
            <a:br>
              <a:rPr lang="en-US" sz="1600" dirty="0">
                <a:latin typeface="Aptos" panose="020B0004020202020204" pitchFamily="34" charset="0"/>
              </a:rPr>
            </a:br>
            <a:r>
              <a:rPr lang="en-US" sz="1600" dirty="0">
                <a:latin typeface="Aptos" panose="020B0004020202020204" pitchFamily="34" charset="0"/>
              </a:rPr>
              <a:t>Checks tampering, inconsistencies, stamps &amp; seals.</a:t>
            </a:r>
          </a:p>
          <a:p>
            <a:endParaRPr lang="en-US" sz="16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80A5D68-277A-BAB9-07E9-5F1749BD8773}"/>
              </a:ext>
            </a:extLst>
          </p:cNvPr>
          <p:cNvSpPr txBox="1"/>
          <p:nvPr/>
        </p:nvSpPr>
        <p:spPr>
          <a:xfrm>
            <a:off x="2933700" y="13843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B31FFB0-DA0C-4B9F-A9D9-23BBAD699FB7}"/>
              </a:ext>
            </a:extLst>
          </p:cNvPr>
          <p:cNvSpPr txBox="1"/>
          <p:nvPr/>
        </p:nvSpPr>
        <p:spPr>
          <a:xfrm>
            <a:off x="617293" y="1093055"/>
            <a:ext cx="112269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Problem Statement Title: Al-Based Fake Identity &amp; Document Screening System</a:t>
            </a:r>
          </a:p>
        </p:txBody>
      </p:sp>
      <p:sp>
        <p:nvSpPr>
          <p:cNvPr id="35" name="Oval 34" descr="Your startup LOGO">
            <a:extLst>
              <a:ext uri="{FF2B5EF4-FFF2-40B4-BE49-F238E27FC236}">
                <a16:creationId xmlns:a16="http://schemas.microsoft.com/office/drawing/2014/main" id="{B224EC71-4060-0B1C-A07E-C8383DD26F1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52214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Tech</a:t>
            </a:r>
          </a:p>
          <a:p>
            <a:pPr algn="ctr"/>
            <a:r>
              <a:rPr lang="en-US" dirty="0"/>
              <a:t>Scale</a:t>
            </a:r>
            <a:endParaRPr lang="en-IN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492D0E1-1921-2B3D-340B-D6D16A2F71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0335" y="1906810"/>
            <a:ext cx="3036477" cy="151823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61D2C74-D2E3-78B1-E236-375C49AFD7CD}"/>
              </a:ext>
            </a:extLst>
          </p:cNvPr>
          <p:cNvSpPr txBox="1"/>
          <p:nvPr/>
        </p:nvSpPr>
        <p:spPr>
          <a:xfrm>
            <a:off x="81084" y="5107973"/>
            <a:ext cx="41539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</a:rPr>
              <a:t>“Smarter Verification. Safer Borders.”</a:t>
            </a:r>
            <a:br>
              <a:rPr lang="en-US" sz="2000" b="1" dirty="0">
                <a:solidFill>
                  <a:srgbClr val="002060"/>
                </a:solidFill>
              </a:rPr>
            </a:br>
            <a:r>
              <a:rPr lang="en-US" sz="2000" b="1" dirty="0">
                <a:solidFill>
                  <a:srgbClr val="002060"/>
                </a:solidFill>
              </a:rPr>
              <a:t> -MEIYARI</a:t>
            </a:r>
            <a:endParaRPr lang="en-US" sz="20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TECHNICAL APPROACHS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9A4E8E2-35CA-2CAC-8A49-0AEA07507F19}"/>
              </a:ext>
            </a:extLst>
          </p:cNvPr>
          <p:cNvSpPr txBox="1"/>
          <p:nvPr/>
        </p:nvSpPr>
        <p:spPr>
          <a:xfrm>
            <a:off x="0" y="986840"/>
            <a:ext cx="4067773" cy="485843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/>
            <a:r>
              <a:rPr sz="2000" b="1" dirty="0">
                <a:solidFill>
                  <a:srgbClr val="20497D"/>
                </a:solidFill>
                <a:latin typeface="Aptos"/>
              </a:rPr>
              <a:t>TECH STACK</a:t>
            </a:r>
          </a:p>
        </p:txBody>
      </p:sp>
      <p:sp>
        <p:nvSpPr>
          <p:cNvPr id="17436" name="Oval 17435" descr="Your startup LOGO">
            <a:extLst>
              <a:ext uri="{FF2B5EF4-FFF2-40B4-BE49-F238E27FC236}">
                <a16:creationId xmlns:a16="http://schemas.microsoft.com/office/drawing/2014/main" id="{CE653B3E-7B62-8459-CED5-1914C6DDF72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52214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Tech</a:t>
            </a:r>
          </a:p>
          <a:p>
            <a:pPr algn="ctr"/>
            <a:r>
              <a:rPr lang="en-US" dirty="0"/>
              <a:t>Scale</a:t>
            </a:r>
            <a:endParaRPr lang="en-IN" dirty="0"/>
          </a:p>
        </p:txBody>
      </p:sp>
      <p:sp>
        <p:nvSpPr>
          <p:cNvPr id="17437" name="TextBox 17436">
            <a:extLst>
              <a:ext uri="{FF2B5EF4-FFF2-40B4-BE49-F238E27FC236}">
                <a16:creationId xmlns:a16="http://schemas.microsoft.com/office/drawing/2014/main" id="{CC4C0D24-49C6-22FF-03E7-1FC6D4EEEC3C}"/>
              </a:ext>
            </a:extLst>
          </p:cNvPr>
          <p:cNvSpPr txBox="1"/>
          <p:nvPr/>
        </p:nvSpPr>
        <p:spPr>
          <a:xfrm>
            <a:off x="-3626" y="1380955"/>
            <a:ext cx="2929702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1F2937"/>
                </a:solidFill>
                <a:latin typeface="Aptos"/>
              </a:rPr>
              <a:t>KIOSK / APPLICATION</a:t>
            </a:r>
          </a:p>
          <a:p>
            <a:pPr lvl="0"/>
            <a:r>
              <a:rPr lang="en-US" sz="1600" dirty="0">
                <a:solidFill>
                  <a:srgbClr val="1F2937"/>
                </a:solidFill>
                <a:latin typeface="Aptos"/>
              </a:rPr>
              <a:t>React.js </a:t>
            </a:r>
          </a:p>
          <a:p>
            <a:pPr lvl="0"/>
            <a:r>
              <a:rPr lang="en-US" sz="1600" dirty="0">
                <a:solidFill>
                  <a:srgbClr val="1F2937"/>
                </a:solidFill>
                <a:latin typeface="Aptos"/>
              </a:rPr>
              <a:t>Tailwind CSS </a:t>
            </a:r>
          </a:p>
          <a:p>
            <a:pPr lvl="0"/>
            <a:endParaRPr lang="en-US" sz="1600" dirty="0">
              <a:solidFill>
                <a:srgbClr val="1F2937"/>
              </a:solidFill>
              <a:latin typeface="Aptos"/>
            </a:endParaRPr>
          </a:p>
          <a:p>
            <a:r>
              <a:rPr lang="en-US" sz="1600" b="1" dirty="0">
                <a:solidFill>
                  <a:srgbClr val="1F2937"/>
                </a:solidFill>
                <a:latin typeface="Aptos"/>
              </a:rPr>
              <a:t>VERIFICATION ENGINE</a:t>
            </a:r>
          </a:p>
          <a:p>
            <a:pPr lvl="0"/>
            <a:r>
              <a:rPr lang="en-US" sz="1600" dirty="0">
                <a:solidFill>
                  <a:srgbClr val="1F2937"/>
                </a:solidFill>
                <a:latin typeface="Aptos"/>
              </a:rPr>
              <a:t>Python + </a:t>
            </a:r>
            <a:r>
              <a:rPr lang="en-US" sz="1600" dirty="0" err="1">
                <a:solidFill>
                  <a:srgbClr val="1F2937"/>
                </a:solidFill>
                <a:latin typeface="Aptos"/>
              </a:rPr>
              <a:t>FastAPI</a:t>
            </a:r>
            <a:r>
              <a:rPr lang="en-US" sz="1600" dirty="0">
                <a:solidFill>
                  <a:srgbClr val="1F2937"/>
                </a:solidFill>
                <a:latin typeface="Aptos"/>
              </a:rPr>
              <a:t> </a:t>
            </a:r>
          </a:p>
          <a:p>
            <a:pPr lvl="0"/>
            <a:r>
              <a:rPr lang="en-US" sz="1600" dirty="0">
                <a:solidFill>
                  <a:srgbClr val="1F2937"/>
                </a:solidFill>
                <a:latin typeface="Aptos"/>
              </a:rPr>
              <a:t>OpenCV </a:t>
            </a:r>
          </a:p>
          <a:p>
            <a:pPr lvl="0"/>
            <a:r>
              <a:rPr lang="en-US" sz="1600" dirty="0" err="1">
                <a:solidFill>
                  <a:srgbClr val="1F2937"/>
                </a:solidFill>
                <a:latin typeface="Aptos"/>
              </a:rPr>
              <a:t>PaddleOCR</a:t>
            </a:r>
            <a:r>
              <a:rPr lang="en-US" sz="1600" dirty="0">
                <a:solidFill>
                  <a:srgbClr val="1F2937"/>
                </a:solidFill>
                <a:latin typeface="Aptos"/>
              </a:rPr>
              <a:t> / </a:t>
            </a:r>
            <a:r>
              <a:rPr lang="en-US" sz="1600" dirty="0" err="1">
                <a:solidFill>
                  <a:srgbClr val="1F2937"/>
                </a:solidFill>
                <a:latin typeface="Aptos"/>
              </a:rPr>
              <a:t>TrOCR</a:t>
            </a:r>
            <a:r>
              <a:rPr lang="en-US" sz="1600" dirty="0">
                <a:solidFill>
                  <a:srgbClr val="1F2937"/>
                </a:solidFill>
                <a:latin typeface="Aptos"/>
              </a:rPr>
              <a:t> </a:t>
            </a:r>
          </a:p>
          <a:p>
            <a:pPr lvl="0"/>
            <a:r>
              <a:rPr lang="en-US" sz="1600" dirty="0">
                <a:solidFill>
                  <a:srgbClr val="1F2937"/>
                </a:solidFill>
                <a:latin typeface="Aptos"/>
              </a:rPr>
              <a:t>YOLOv8-Nano </a:t>
            </a:r>
          </a:p>
          <a:p>
            <a:pPr lvl="0"/>
            <a:r>
              <a:rPr lang="en-US" sz="1600" dirty="0" err="1">
                <a:solidFill>
                  <a:srgbClr val="1F2937"/>
                </a:solidFill>
                <a:latin typeface="Aptos"/>
              </a:rPr>
              <a:t>ArcFace</a:t>
            </a:r>
            <a:r>
              <a:rPr lang="en-US" sz="1600" dirty="0">
                <a:solidFill>
                  <a:srgbClr val="1F2937"/>
                </a:solidFill>
                <a:latin typeface="Aptos"/>
              </a:rPr>
              <a:t> </a:t>
            </a:r>
          </a:p>
          <a:p>
            <a:pPr lvl="0"/>
            <a:r>
              <a:rPr lang="en-US" sz="1600" dirty="0" err="1">
                <a:solidFill>
                  <a:srgbClr val="1F2937"/>
                </a:solidFill>
                <a:latin typeface="Aptos"/>
              </a:rPr>
              <a:t>MiniFASNet</a:t>
            </a:r>
            <a:r>
              <a:rPr lang="en-US" sz="1600" dirty="0">
                <a:solidFill>
                  <a:srgbClr val="1F2937"/>
                </a:solidFill>
                <a:latin typeface="Aptos"/>
              </a:rPr>
              <a:t> </a:t>
            </a:r>
          </a:p>
          <a:p>
            <a:pPr lvl="0"/>
            <a:endParaRPr lang="en-US" sz="1600" dirty="0">
              <a:solidFill>
                <a:srgbClr val="1F2937"/>
              </a:solidFill>
              <a:latin typeface="Aptos"/>
            </a:endParaRPr>
          </a:p>
          <a:p>
            <a:r>
              <a:rPr lang="en-US" sz="1600" b="1" dirty="0">
                <a:solidFill>
                  <a:srgbClr val="1F2937"/>
                </a:solidFill>
                <a:latin typeface="Aptos"/>
              </a:rPr>
              <a:t>GOVERNMENT INTEGRATION</a:t>
            </a:r>
          </a:p>
          <a:p>
            <a:pPr lvl="0"/>
            <a:r>
              <a:rPr lang="en-US" sz="1600" dirty="0">
                <a:solidFill>
                  <a:srgbClr val="1F2937"/>
                </a:solidFill>
                <a:latin typeface="Aptos"/>
              </a:rPr>
              <a:t>Secure REST / </a:t>
            </a:r>
            <a:r>
              <a:rPr lang="en-US" sz="1600" dirty="0" err="1">
                <a:solidFill>
                  <a:srgbClr val="1F2937"/>
                </a:solidFill>
                <a:latin typeface="Aptos"/>
              </a:rPr>
              <a:t>gRPC</a:t>
            </a:r>
            <a:r>
              <a:rPr lang="en-US" sz="1600" dirty="0">
                <a:solidFill>
                  <a:srgbClr val="1F2937"/>
                </a:solidFill>
                <a:latin typeface="Aptos"/>
              </a:rPr>
              <a:t> APIs </a:t>
            </a:r>
          </a:p>
          <a:p>
            <a:pPr lvl="0"/>
            <a:r>
              <a:rPr lang="en-US" sz="1600" dirty="0">
                <a:solidFill>
                  <a:srgbClr val="1F2937"/>
                </a:solidFill>
                <a:latin typeface="Aptos"/>
              </a:rPr>
              <a:t>Government registry connectivity </a:t>
            </a:r>
          </a:p>
          <a:p>
            <a:pPr lvl="0"/>
            <a:endParaRPr lang="en-US" sz="1600" dirty="0">
              <a:solidFill>
                <a:srgbClr val="1F2937"/>
              </a:solidFill>
              <a:latin typeface="Aptos"/>
            </a:endParaRPr>
          </a:p>
          <a:p>
            <a:r>
              <a:rPr lang="en-US" sz="1600" b="1" dirty="0">
                <a:solidFill>
                  <a:srgbClr val="1F2937"/>
                </a:solidFill>
                <a:latin typeface="Aptos"/>
              </a:rPr>
              <a:t>SECURITY &amp; AUDIT</a:t>
            </a:r>
          </a:p>
          <a:p>
            <a:pPr lvl="0"/>
            <a:r>
              <a:rPr lang="en-US" sz="1600" dirty="0">
                <a:solidFill>
                  <a:srgbClr val="1F2937"/>
                </a:solidFill>
                <a:latin typeface="Aptos"/>
              </a:rPr>
              <a:t>SHA-256 </a:t>
            </a:r>
          </a:p>
          <a:p>
            <a:pPr lvl="0"/>
            <a:r>
              <a:rPr lang="en-US" sz="1600" dirty="0">
                <a:solidFill>
                  <a:srgbClr val="1F2937"/>
                </a:solidFill>
                <a:latin typeface="Aptos"/>
              </a:rPr>
              <a:t>Hyperledger Fabric</a:t>
            </a:r>
          </a:p>
        </p:txBody>
      </p:sp>
      <p:sp>
        <p:nvSpPr>
          <p:cNvPr id="17484" name="TextBox 17483">
            <a:extLst>
              <a:ext uri="{FF2B5EF4-FFF2-40B4-BE49-F238E27FC236}">
                <a16:creationId xmlns:a16="http://schemas.microsoft.com/office/drawing/2014/main" id="{A45F9498-2CDB-790C-0E1C-7CF49BC228D2}"/>
              </a:ext>
            </a:extLst>
          </p:cNvPr>
          <p:cNvSpPr txBox="1"/>
          <p:nvPr/>
        </p:nvSpPr>
        <p:spPr>
          <a:xfrm>
            <a:off x="3149600" y="970511"/>
            <a:ext cx="4067773" cy="485843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/>
            <a:r>
              <a:rPr lang="en-US" sz="2000" b="1" dirty="0">
                <a:solidFill>
                  <a:srgbClr val="20497D"/>
                </a:solidFill>
                <a:latin typeface="Aptos"/>
              </a:rPr>
              <a:t>WORK FLOW</a:t>
            </a:r>
            <a:endParaRPr sz="2000" b="1" dirty="0">
              <a:solidFill>
                <a:srgbClr val="20497D"/>
              </a:solidFill>
              <a:latin typeface="Aptos"/>
            </a:endParaRPr>
          </a:p>
        </p:txBody>
      </p:sp>
      <p:sp>
        <p:nvSpPr>
          <p:cNvPr id="17485" name="Rectangle 17484">
            <a:extLst>
              <a:ext uri="{FF2B5EF4-FFF2-40B4-BE49-F238E27FC236}">
                <a16:creationId xmlns:a16="http://schemas.microsoft.com/office/drawing/2014/main" id="{C83D8B28-5EF1-7700-D88D-8B9F72A620F2}"/>
              </a:ext>
            </a:extLst>
          </p:cNvPr>
          <p:cNvSpPr/>
          <p:nvPr/>
        </p:nvSpPr>
        <p:spPr>
          <a:xfrm flipH="1">
            <a:off x="2903217" y="1128709"/>
            <a:ext cx="45719" cy="501809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490" name="Group 17489">
            <a:extLst>
              <a:ext uri="{FF2B5EF4-FFF2-40B4-BE49-F238E27FC236}">
                <a16:creationId xmlns:a16="http://schemas.microsoft.com/office/drawing/2014/main" id="{5B382E8F-9EB4-893D-0D2F-8B0A4936E18B}"/>
              </a:ext>
            </a:extLst>
          </p:cNvPr>
          <p:cNvGrpSpPr/>
          <p:nvPr/>
        </p:nvGrpSpPr>
        <p:grpSpPr>
          <a:xfrm>
            <a:off x="3014664" y="1795445"/>
            <a:ext cx="9170486" cy="4434760"/>
            <a:chOff x="3014664" y="1866885"/>
            <a:chExt cx="9170486" cy="4434760"/>
          </a:xfrm>
        </p:grpSpPr>
        <p:grpSp>
          <p:nvGrpSpPr>
            <p:cNvPr id="17487" name="Group 17486">
              <a:extLst>
                <a:ext uri="{FF2B5EF4-FFF2-40B4-BE49-F238E27FC236}">
                  <a16:creationId xmlns:a16="http://schemas.microsoft.com/office/drawing/2014/main" id="{B1CA6FA4-043B-62BA-4CE3-A10BB9C88CE6}"/>
                </a:ext>
              </a:extLst>
            </p:cNvPr>
            <p:cNvGrpSpPr/>
            <p:nvPr/>
          </p:nvGrpSpPr>
          <p:grpSpPr>
            <a:xfrm>
              <a:off x="3014664" y="1866885"/>
              <a:ext cx="9170486" cy="4434760"/>
              <a:chOff x="3014664" y="1866885"/>
              <a:chExt cx="9170486" cy="4434760"/>
            </a:xfrm>
          </p:grpSpPr>
          <p:pic>
            <p:nvPicPr>
              <p:cNvPr id="17483" name="Picture 17482">
                <a:extLst>
                  <a:ext uri="{FF2B5EF4-FFF2-40B4-BE49-F238E27FC236}">
                    <a16:creationId xmlns:a16="http://schemas.microsoft.com/office/drawing/2014/main" id="{36B8FACA-4DA9-1F4E-1B31-6631380750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t="14074"/>
              <a:stretch>
                <a:fillRect/>
              </a:stretch>
            </p:blipFill>
            <p:spPr>
              <a:xfrm>
                <a:off x="3014664" y="1866885"/>
                <a:ext cx="9170486" cy="4434760"/>
              </a:xfrm>
              <a:prstGeom prst="rect">
                <a:avLst/>
              </a:prstGeom>
            </p:spPr>
          </p:pic>
          <p:sp>
            <p:nvSpPr>
              <p:cNvPr id="17486" name="Rectangle 17485">
                <a:extLst>
                  <a:ext uri="{FF2B5EF4-FFF2-40B4-BE49-F238E27FC236}">
                    <a16:creationId xmlns:a16="http://schemas.microsoft.com/office/drawing/2014/main" id="{2D423F5D-8FD1-BEEC-2AB0-C8AB86278064}"/>
                  </a:ext>
                </a:extLst>
              </p:cNvPr>
              <p:cNvSpPr/>
              <p:nvPr/>
            </p:nvSpPr>
            <p:spPr>
              <a:xfrm>
                <a:off x="10987088" y="5291138"/>
                <a:ext cx="1162050" cy="92710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7488" name="Rectangle 17487">
              <a:extLst>
                <a:ext uri="{FF2B5EF4-FFF2-40B4-BE49-F238E27FC236}">
                  <a16:creationId xmlns:a16="http://schemas.microsoft.com/office/drawing/2014/main" id="{FD60FBD0-75EB-5B1E-EF05-48D4BE2369F1}"/>
                </a:ext>
              </a:extLst>
            </p:cNvPr>
            <p:cNvSpPr/>
            <p:nvPr/>
          </p:nvSpPr>
          <p:spPr>
            <a:xfrm>
              <a:off x="3937000" y="5969000"/>
              <a:ext cx="1412875" cy="155575"/>
            </a:xfrm>
            <a:prstGeom prst="rect">
              <a:avLst/>
            </a:prstGeom>
            <a:solidFill>
              <a:srgbClr val="E7F4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489" name="Rectangle 17488">
              <a:extLst>
                <a:ext uri="{FF2B5EF4-FFF2-40B4-BE49-F238E27FC236}">
                  <a16:creationId xmlns:a16="http://schemas.microsoft.com/office/drawing/2014/main" id="{9ED97D5A-CDF8-D137-2E36-2A6FC560D2BE}"/>
                </a:ext>
              </a:extLst>
            </p:cNvPr>
            <p:cNvSpPr/>
            <p:nvPr/>
          </p:nvSpPr>
          <p:spPr>
            <a:xfrm>
              <a:off x="4749800" y="5342974"/>
              <a:ext cx="736730" cy="155575"/>
            </a:xfrm>
            <a:prstGeom prst="rect">
              <a:avLst/>
            </a:prstGeom>
            <a:solidFill>
              <a:srgbClr val="E7F4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8223026" y="1210753"/>
            <a:ext cx="398721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OVERCOMING THESE CHALLENGES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C3EF1DF-52BB-E7DC-7202-C5B5D94789ED}"/>
              </a:ext>
            </a:extLst>
          </p:cNvPr>
          <p:cNvSpPr txBox="1"/>
          <p:nvPr/>
        </p:nvSpPr>
        <p:spPr>
          <a:xfrm>
            <a:off x="78691" y="1803499"/>
            <a:ext cx="3742165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600" dirty="0">
                <a:solidFill>
                  <a:srgbClr val="1F2937"/>
                </a:solidFill>
                <a:latin typeface="Aptos"/>
              </a:rPr>
              <a:t>• </a:t>
            </a:r>
            <a:r>
              <a:rPr lang="en-US" sz="1600" b="1" dirty="0">
                <a:solidFill>
                  <a:srgbClr val="1F2937"/>
                </a:solidFill>
                <a:latin typeface="Aptos"/>
              </a:rPr>
              <a:t>Technical</a:t>
            </a:r>
            <a:r>
              <a:rPr lang="en-US" sz="1600" dirty="0"/>
              <a:t> </a:t>
            </a:r>
            <a:r>
              <a:rPr lang="en-US" sz="1600" b="1" dirty="0">
                <a:solidFill>
                  <a:srgbClr val="1F2937"/>
                </a:solidFill>
                <a:latin typeface="Aptos"/>
              </a:rPr>
              <a:t>Feasible </a:t>
            </a:r>
            <a:r>
              <a:rPr lang="en-US" sz="1600" dirty="0">
                <a:solidFill>
                  <a:srgbClr val="1F2937"/>
                </a:solidFill>
                <a:latin typeface="Aptos"/>
              </a:rPr>
              <a:t>- </a:t>
            </a:r>
            <a:r>
              <a:rPr lang="en-US" sz="1600" dirty="0"/>
              <a:t>Built from mature OCR, computer-vision, ML and API technologies already suited to automated document screening.</a:t>
            </a:r>
            <a:endParaRPr lang="en-US" sz="1600" dirty="0">
              <a:solidFill>
                <a:srgbClr val="1F2937"/>
              </a:solidFill>
              <a:latin typeface="Aptos"/>
            </a:endParaRPr>
          </a:p>
          <a:p>
            <a:pPr lvl="0"/>
            <a:r>
              <a:rPr lang="en-US" sz="1600" dirty="0">
                <a:solidFill>
                  <a:srgbClr val="1F2937"/>
                </a:solidFill>
                <a:latin typeface="Aptos"/>
              </a:rPr>
              <a:t>• </a:t>
            </a:r>
            <a:r>
              <a:rPr lang="en-US" sz="1600" b="1" dirty="0">
                <a:solidFill>
                  <a:srgbClr val="1F2937"/>
                </a:solidFill>
                <a:latin typeface="Aptos"/>
              </a:rPr>
              <a:t>Operational Feasible </a:t>
            </a:r>
            <a:r>
              <a:rPr lang="en-US" sz="1600" dirty="0">
                <a:solidFill>
                  <a:srgbClr val="1F2937"/>
                </a:solidFill>
                <a:latin typeface="Aptos"/>
              </a:rPr>
              <a:t>- Designed as an officer-facing verification system with document scanning, face capture and automated verification. </a:t>
            </a:r>
          </a:p>
          <a:p>
            <a:pPr lvl="0"/>
            <a:r>
              <a:rPr lang="en-US" sz="1600" dirty="0">
                <a:solidFill>
                  <a:srgbClr val="1F2937"/>
                </a:solidFill>
                <a:latin typeface="Aptos"/>
              </a:rPr>
              <a:t>• </a:t>
            </a:r>
            <a:r>
              <a:rPr lang="en-US" sz="1600" b="1" dirty="0">
                <a:solidFill>
                  <a:srgbClr val="1F2937"/>
                </a:solidFill>
                <a:latin typeface="Aptos"/>
              </a:rPr>
              <a:t>Integration Feasible </a:t>
            </a:r>
            <a:r>
              <a:rPr lang="en-US" sz="1600" dirty="0">
                <a:solidFill>
                  <a:srgbClr val="1F2937"/>
                </a:solidFill>
                <a:latin typeface="Aptos"/>
              </a:rPr>
              <a:t>-S</a:t>
            </a:r>
            <a:r>
              <a:rPr lang="en-US" sz="1600" dirty="0"/>
              <a:t>ecure API adapters to integrate with authorized government/registry services where access is available.</a:t>
            </a:r>
            <a:endParaRPr lang="en-US" sz="1600" dirty="0">
              <a:solidFill>
                <a:srgbClr val="1F2937"/>
              </a:solidFill>
              <a:latin typeface="Aptos"/>
            </a:endParaRPr>
          </a:p>
          <a:p>
            <a:pPr lvl="0"/>
            <a:r>
              <a:rPr lang="en-US" sz="1600" dirty="0">
                <a:solidFill>
                  <a:srgbClr val="1F2937"/>
                </a:solidFill>
                <a:latin typeface="Aptos"/>
              </a:rPr>
              <a:t>• </a:t>
            </a:r>
            <a:r>
              <a:rPr lang="en-US" sz="1600" b="1" dirty="0">
                <a:solidFill>
                  <a:srgbClr val="1F2937"/>
                </a:solidFill>
                <a:latin typeface="Aptos"/>
              </a:rPr>
              <a:t>Performance Feasible </a:t>
            </a:r>
            <a:r>
              <a:rPr lang="en-US" sz="1600" dirty="0">
                <a:solidFill>
                  <a:srgbClr val="1F2937"/>
                </a:solidFill>
                <a:latin typeface="Aptos"/>
              </a:rPr>
              <a:t>- </a:t>
            </a:r>
            <a:r>
              <a:rPr lang="en-US" sz="1600" dirty="0"/>
              <a:t>Parallel processing enables multiple verification checks to run concurrently, reducing overall screening latency.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A4F881-A7B4-D1AE-681A-14DE08044C25}"/>
              </a:ext>
            </a:extLst>
          </p:cNvPr>
          <p:cNvSpPr txBox="1"/>
          <p:nvPr/>
        </p:nvSpPr>
        <p:spPr>
          <a:xfrm>
            <a:off x="1019610" y="1218627"/>
            <a:ext cx="1435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FEASIBILITY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0FC39A-716F-3AE1-B6F0-FAF9A29C7997}"/>
              </a:ext>
            </a:extLst>
          </p:cNvPr>
          <p:cNvSpPr txBox="1"/>
          <p:nvPr/>
        </p:nvSpPr>
        <p:spPr>
          <a:xfrm>
            <a:off x="4499500" y="1206942"/>
            <a:ext cx="2862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POTENTIAL</a:t>
            </a:r>
            <a:r>
              <a:rPr lang="en-US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CHALLENGES</a:t>
            </a:r>
          </a:p>
        </p:txBody>
      </p:sp>
      <p:sp>
        <p:nvSpPr>
          <p:cNvPr id="13" name="Oval 12" descr="Your startup LOGO">
            <a:extLst>
              <a:ext uri="{FF2B5EF4-FFF2-40B4-BE49-F238E27FC236}">
                <a16:creationId xmlns:a16="http://schemas.microsoft.com/office/drawing/2014/main" id="{451B786D-82AF-968A-9DE3-52C27CC0CBB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52214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Tech</a:t>
            </a:r>
          </a:p>
          <a:p>
            <a:pPr algn="ctr"/>
            <a:r>
              <a:rPr lang="en-US" dirty="0"/>
              <a:t>Scale</a:t>
            </a:r>
            <a:endParaRPr lang="en-IN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36683FA-CD70-29F3-F2EF-1AF8A34B5F3B}"/>
              </a:ext>
            </a:extLst>
          </p:cNvPr>
          <p:cNvSpPr/>
          <p:nvPr/>
        </p:nvSpPr>
        <p:spPr>
          <a:xfrm>
            <a:off x="3991429" y="1700806"/>
            <a:ext cx="3976915" cy="76992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Aptos"/>
              </a:rPr>
              <a:t>Government Registry Access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2B8C15E-C619-E2E6-28FB-18CF192B06B8}"/>
              </a:ext>
            </a:extLst>
          </p:cNvPr>
          <p:cNvSpPr/>
          <p:nvPr/>
        </p:nvSpPr>
        <p:spPr>
          <a:xfrm>
            <a:off x="4004455" y="2640612"/>
            <a:ext cx="3976915" cy="7774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Aptos"/>
              </a:rPr>
              <a:t>Network / Service Availability 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0352129-563D-D44E-AE02-27ED7BA5F67D}"/>
              </a:ext>
            </a:extLst>
          </p:cNvPr>
          <p:cNvSpPr/>
          <p:nvPr/>
        </p:nvSpPr>
        <p:spPr>
          <a:xfrm>
            <a:off x="4004455" y="3581350"/>
            <a:ext cx="3976915" cy="7774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Aptos"/>
              </a:rPr>
              <a:t>Poor Document Quality 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BF6A334-6BF4-57B1-31A6-1827330A73CE}"/>
              </a:ext>
            </a:extLst>
          </p:cNvPr>
          <p:cNvSpPr/>
          <p:nvPr/>
        </p:nvSpPr>
        <p:spPr>
          <a:xfrm>
            <a:off x="4031375" y="5465766"/>
            <a:ext cx="3976915" cy="77742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b="1" dirty="0">
                <a:solidFill>
                  <a:srgbClr val="C00000"/>
                </a:solidFill>
                <a:latin typeface="Aptos"/>
              </a:rPr>
              <a:t>Biometric Reliability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CCB76BB-B929-E791-AF38-D7463DEB8F81}"/>
              </a:ext>
            </a:extLst>
          </p:cNvPr>
          <p:cNvSpPr/>
          <p:nvPr/>
        </p:nvSpPr>
        <p:spPr>
          <a:xfrm>
            <a:off x="4031374" y="4514949"/>
            <a:ext cx="3976915" cy="79464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Aptos"/>
              </a:rPr>
              <a:t>Processing Time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1788900-B6AE-4E67-6D25-6DFF101B1FE1}"/>
              </a:ext>
            </a:extLst>
          </p:cNvPr>
          <p:cNvSpPr/>
          <p:nvPr/>
        </p:nvSpPr>
        <p:spPr>
          <a:xfrm>
            <a:off x="8186057" y="1708091"/>
            <a:ext cx="3976915" cy="762642"/>
          </a:xfrm>
          <a:prstGeom prst="roundRect">
            <a:avLst/>
          </a:prstGeom>
          <a:solidFill>
            <a:srgbClr val="89FB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1BA535"/>
                </a:solidFill>
                <a:latin typeface="Aptos" panose="020B0004020202020204" pitchFamily="34" charset="0"/>
              </a:rPr>
              <a:t>Authorized APIs + modular adapters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E577201-8461-3505-F027-CEB47382AEF7}"/>
              </a:ext>
            </a:extLst>
          </p:cNvPr>
          <p:cNvSpPr/>
          <p:nvPr/>
        </p:nvSpPr>
        <p:spPr>
          <a:xfrm>
            <a:off x="8186056" y="2640414"/>
            <a:ext cx="3976915" cy="762642"/>
          </a:xfrm>
          <a:prstGeom prst="roundRect">
            <a:avLst/>
          </a:prstGeom>
          <a:solidFill>
            <a:srgbClr val="89FB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1BA535"/>
                </a:solidFill>
                <a:latin typeface="Aptos" panose="020B0004020202020204" pitchFamily="34" charset="0"/>
              </a:rPr>
              <a:t>Retry + timeout + Human Review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AA15550-BCCD-39E3-E39E-0F0C4ADB0B3E}"/>
              </a:ext>
            </a:extLst>
          </p:cNvPr>
          <p:cNvSpPr/>
          <p:nvPr/>
        </p:nvSpPr>
        <p:spPr>
          <a:xfrm>
            <a:off x="8164969" y="3581350"/>
            <a:ext cx="3976915" cy="762642"/>
          </a:xfrm>
          <a:prstGeom prst="roundRect">
            <a:avLst/>
          </a:prstGeom>
          <a:solidFill>
            <a:srgbClr val="89FB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1BA535"/>
                </a:solidFill>
                <a:latin typeface="Aptos" panose="020B0004020202020204" pitchFamily="34" charset="0"/>
              </a:rPr>
              <a:t>Quality detection + adaptive preprocessing + recapture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E0988BC-0B42-D117-F66B-A341C6DE3451}"/>
              </a:ext>
            </a:extLst>
          </p:cNvPr>
          <p:cNvSpPr/>
          <p:nvPr/>
        </p:nvSpPr>
        <p:spPr>
          <a:xfrm>
            <a:off x="8175265" y="4497588"/>
            <a:ext cx="3976915" cy="762642"/>
          </a:xfrm>
          <a:prstGeom prst="roundRect">
            <a:avLst/>
          </a:prstGeom>
          <a:solidFill>
            <a:srgbClr val="89FB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1F2937"/>
                </a:solidFill>
                <a:latin typeface="Aptos"/>
              </a:rPr>
              <a:t> </a:t>
            </a:r>
            <a:r>
              <a:rPr lang="en-US" b="1" dirty="0">
                <a:solidFill>
                  <a:srgbClr val="1BA535"/>
                </a:solidFill>
                <a:latin typeface="Aptos" panose="020B0004020202020204" pitchFamily="34" charset="0"/>
              </a:rPr>
              <a:t>Parallel processing + optimized ML inference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76B469C-9365-2953-FFD3-B6996D41A75D}"/>
              </a:ext>
            </a:extLst>
          </p:cNvPr>
          <p:cNvSpPr/>
          <p:nvPr/>
        </p:nvSpPr>
        <p:spPr>
          <a:xfrm>
            <a:off x="8189779" y="5472210"/>
            <a:ext cx="3976915" cy="762642"/>
          </a:xfrm>
          <a:prstGeom prst="roundRect">
            <a:avLst/>
          </a:prstGeom>
          <a:solidFill>
            <a:srgbClr val="89FB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1BA535"/>
                </a:solidFill>
                <a:latin typeface="Aptos" panose="020B0004020202020204" pitchFamily="34" charset="0"/>
              </a:rPr>
              <a:t>Confidence thresholds + human review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B6810594-3E9C-25F9-EEDD-2AC4448F53D3}"/>
              </a:ext>
            </a:extLst>
          </p:cNvPr>
          <p:cNvSpPr/>
          <p:nvPr/>
        </p:nvSpPr>
        <p:spPr>
          <a:xfrm>
            <a:off x="6328226" y="1444892"/>
            <a:ext cx="5486400" cy="1015987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eaLnBrk="1" latinLnBrk="0" hangingPunct="1">
              <a:lnSpc>
                <a:spcPct val="100000"/>
              </a:lnSpc>
              <a:buClrTx/>
              <a:buSzTx/>
              <a:buFontTx/>
              <a:buNone/>
              <a:tabLst/>
              <a:defRPr/>
            </a:pPr>
            <a:endParaRPr lang="en-US" sz="1600" dirty="0">
              <a:solidFill>
                <a:srgbClr val="1F2937"/>
              </a:solidFill>
              <a:latin typeface="Aptos"/>
            </a:endParaRP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79368AE4-D0BE-89B3-5432-09D8333065FC}"/>
              </a:ext>
            </a:extLst>
          </p:cNvPr>
          <p:cNvSpPr/>
          <p:nvPr/>
        </p:nvSpPr>
        <p:spPr>
          <a:xfrm>
            <a:off x="6407145" y="1526178"/>
            <a:ext cx="1602679" cy="86936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/>
              </a:rPr>
              <a:t>Social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CEC52B57-12B6-0ABF-EA89-61F2D503CD1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52214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Tech</a:t>
            </a:r>
          </a:p>
          <a:p>
            <a:pPr algn="ctr"/>
            <a:r>
              <a:rPr lang="en-US" dirty="0"/>
              <a:t>Scale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7FDD95-946A-00F8-4317-AB02A2E17062}"/>
              </a:ext>
            </a:extLst>
          </p:cNvPr>
          <p:cNvSpPr txBox="1"/>
          <p:nvPr/>
        </p:nvSpPr>
        <p:spPr>
          <a:xfrm>
            <a:off x="1647586" y="5014196"/>
            <a:ext cx="406741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600" b="1" dirty="0">
                <a:solidFill>
                  <a:srgbClr val="1F2937"/>
                </a:solidFill>
                <a:latin typeface="Aptos"/>
              </a:rPr>
              <a:t>Government</a:t>
            </a:r>
            <a:r>
              <a:rPr lang="en-US" sz="1600" dirty="0">
                <a:solidFill>
                  <a:srgbClr val="1F2937"/>
                </a:solidFill>
                <a:latin typeface="Aptos"/>
              </a:rPr>
              <a:t> </a:t>
            </a:r>
          </a:p>
          <a:p>
            <a:pPr lvl="0"/>
            <a:r>
              <a:rPr lang="en-US" sz="1600" dirty="0">
                <a:solidFill>
                  <a:srgbClr val="1F2937"/>
                </a:solidFill>
                <a:latin typeface="Aptos"/>
              </a:rPr>
              <a:t>Standardized verification workflow with traceable decision history across checkpoints</a:t>
            </a:r>
            <a:r>
              <a:rPr lang="en-US" sz="1600" dirty="0"/>
              <a:t>.</a:t>
            </a:r>
            <a:endParaRPr lang="en-US" sz="1600" dirty="0">
              <a:solidFill>
                <a:srgbClr val="1F2937"/>
              </a:solidFill>
              <a:latin typeface="Apto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31A458-A62E-145A-46C6-127D39707B7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5278" b="31000"/>
          <a:stretch>
            <a:fillRect/>
          </a:stretch>
        </p:blipFill>
        <p:spPr>
          <a:xfrm>
            <a:off x="-356726" y="3498399"/>
            <a:ext cx="2193012" cy="11092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31DD1D2-D7AD-5436-4A95-BE38CBDE35A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64668"/>
          <a:stretch>
            <a:fillRect/>
          </a:stretch>
        </p:blipFill>
        <p:spPr>
          <a:xfrm>
            <a:off x="-356726" y="1923861"/>
            <a:ext cx="2193012" cy="116223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5B29D4A-B0C5-B18C-7D64-DD4B7773A09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8505"/>
          <a:stretch>
            <a:fillRect/>
          </a:stretch>
        </p:blipFill>
        <p:spPr>
          <a:xfrm>
            <a:off x="-415012" y="5019997"/>
            <a:ext cx="2309584" cy="109110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4558C6E-BEBA-775F-56EA-B56BA3EC7DAA}"/>
              </a:ext>
            </a:extLst>
          </p:cNvPr>
          <p:cNvSpPr txBox="1"/>
          <p:nvPr/>
        </p:nvSpPr>
        <p:spPr>
          <a:xfrm>
            <a:off x="1671185" y="2004471"/>
            <a:ext cx="404381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Aptos"/>
                <a:ea typeface="ＭＳ Ｐゴシック" pitchFamily="1" charset="-128"/>
                <a:cs typeface="+mn-cs"/>
              </a:rPr>
              <a:t>Officers</a:t>
            </a:r>
          </a:p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Aptos"/>
                <a:ea typeface="ＭＳ Ｐゴシック" pitchFamily="1" charset="-128"/>
                <a:cs typeface="+mn-cs"/>
              </a:rPr>
              <a:t>Reduces repetitive manual checks and supports evidence-backed decisions in lesser time.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92D067F-E4EC-DF3D-2C94-9FC11C7DE283}"/>
              </a:ext>
            </a:extLst>
          </p:cNvPr>
          <p:cNvSpPr txBox="1"/>
          <p:nvPr/>
        </p:nvSpPr>
        <p:spPr>
          <a:xfrm>
            <a:off x="1647584" y="3645131"/>
            <a:ext cx="406741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Aptos"/>
                <a:ea typeface="ＭＳ Ｐゴシック" pitchFamily="1" charset="-128"/>
                <a:cs typeface="+mn-cs"/>
              </a:rPr>
              <a:t>People / Travelers</a:t>
            </a:r>
          </a:p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Aptos"/>
                <a:ea typeface="ＭＳ Ｐゴシック" pitchFamily="1" charset="-128"/>
                <a:cs typeface="+mn-cs"/>
              </a:rPr>
              <a:t>Genuine people /travelers can move through checkpoints with fewer repeated checks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CFF7C00-8E74-E57C-71E3-B8C2E0253AE6}"/>
              </a:ext>
            </a:extLst>
          </p:cNvPr>
          <p:cNvSpPr txBox="1"/>
          <p:nvPr/>
        </p:nvSpPr>
        <p:spPr>
          <a:xfrm>
            <a:off x="-701537" y="1115085"/>
            <a:ext cx="635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ＭＳ Ｐゴシック" pitchFamily="1" charset="-128"/>
                <a:cs typeface="+mn-cs"/>
              </a:rPr>
              <a:t>Potential Impact on Target Audience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0BE16062-8DBF-6260-31F1-63E4EE5D3729}"/>
              </a:ext>
            </a:extLst>
          </p:cNvPr>
          <p:cNvSpPr/>
          <p:nvPr/>
        </p:nvSpPr>
        <p:spPr>
          <a:xfrm>
            <a:off x="6328226" y="2670231"/>
            <a:ext cx="5486400" cy="1015987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endParaRPr lang="en-US" sz="1600" b="1" dirty="0">
              <a:solidFill>
                <a:srgbClr val="1F2937"/>
              </a:solidFill>
              <a:latin typeface="Aptos"/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D2AE2438-7223-05B5-3E55-459A063D0E99}"/>
              </a:ext>
            </a:extLst>
          </p:cNvPr>
          <p:cNvSpPr/>
          <p:nvPr/>
        </p:nvSpPr>
        <p:spPr>
          <a:xfrm>
            <a:off x="6328226" y="3962893"/>
            <a:ext cx="5486400" cy="1015987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 dirty="0">
              <a:solidFill>
                <a:srgbClr val="1F2937"/>
              </a:solidFill>
              <a:latin typeface="Aptos"/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4409F34F-5BF0-7BE5-1231-17C926E1A978}"/>
              </a:ext>
            </a:extLst>
          </p:cNvPr>
          <p:cNvSpPr/>
          <p:nvPr/>
        </p:nvSpPr>
        <p:spPr>
          <a:xfrm>
            <a:off x="6297854" y="5202253"/>
            <a:ext cx="5516772" cy="1015987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endParaRPr lang="en-US" sz="1600" dirty="0">
              <a:solidFill>
                <a:srgbClr val="1F2937"/>
              </a:solidFill>
              <a:latin typeface="Aptos"/>
            </a:endParaRP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297854" y="1095375"/>
            <a:ext cx="5928146" cy="615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Benefits of the solution</a:t>
            </a:r>
          </a:p>
          <a:p>
            <a:pPr lvl="0"/>
            <a:endParaRPr lang="en-US" sz="1600" dirty="0">
              <a:solidFill>
                <a:srgbClr val="1F2937"/>
              </a:solidFill>
              <a:latin typeface="Aptos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C21AEB4-9EBD-FC81-2CB2-6A7C2A13E28D}"/>
              </a:ext>
            </a:extLst>
          </p:cNvPr>
          <p:cNvSpPr txBox="1"/>
          <p:nvPr/>
        </p:nvSpPr>
        <p:spPr>
          <a:xfrm>
            <a:off x="7975136" y="1638446"/>
            <a:ext cx="377459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Consistent border screening and smoother verification processing. 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B8A3716-50B8-6CC7-3F05-46ED17576BC3}"/>
              </a:ext>
            </a:extLst>
          </p:cNvPr>
          <p:cNvSpPr txBox="1"/>
          <p:nvPr/>
        </p:nvSpPr>
        <p:spPr>
          <a:xfrm>
            <a:off x="5036457" y="593634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F3FF1664-873D-4177-23D1-21C2C81839C6}"/>
              </a:ext>
            </a:extLst>
          </p:cNvPr>
          <p:cNvSpPr/>
          <p:nvPr/>
        </p:nvSpPr>
        <p:spPr>
          <a:xfrm>
            <a:off x="6407148" y="2744462"/>
            <a:ext cx="1602676" cy="86936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1F2937"/>
                </a:solidFill>
                <a:latin typeface="Aptos"/>
              </a:rPr>
              <a:t>Economic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D104096-C909-DE95-B7CE-6CF1AAF45F98}"/>
              </a:ext>
            </a:extLst>
          </p:cNvPr>
          <p:cNvSpPr txBox="1"/>
          <p:nvPr/>
        </p:nvSpPr>
        <p:spPr>
          <a:xfrm>
            <a:off x="7880378" y="2760737"/>
            <a:ext cx="403496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Increases traveler-processing capacity at existing checkpoints by reducing the time spent on repetitive verification tasks.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1F2937"/>
              </a:solidFill>
              <a:effectLst/>
              <a:uLnTx/>
              <a:uFillTx/>
              <a:latin typeface="Aptos"/>
              <a:ea typeface="ＭＳ Ｐゴシック" pitchFamily="1" charset="-128"/>
              <a:cs typeface="+mn-cs"/>
            </a:endParaRP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23170A2E-D076-83D1-8E16-9D88447544D5}"/>
              </a:ext>
            </a:extLst>
          </p:cNvPr>
          <p:cNvSpPr/>
          <p:nvPr/>
        </p:nvSpPr>
        <p:spPr>
          <a:xfrm>
            <a:off x="6407148" y="4038424"/>
            <a:ext cx="1602676" cy="86936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1F2937"/>
                </a:solidFill>
                <a:latin typeface="Aptos"/>
              </a:rPr>
              <a:t>Security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B471EB2E-10E3-EC78-D75E-2597D3988F82}"/>
              </a:ext>
            </a:extLst>
          </p:cNvPr>
          <p:cNvSpPr/>
          <p:nvPr/>
        </p:nvSpPr>
        <p:spPr>
          <a:xfrm>
            <a:off x="6370844" y="5280784"/>
            <a:ext cx="1638980" cy="86936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1F2937"/>
                </a:solidFill>
                <a:latin typeface="Aptos"/>
              </a:rPr>
              <a:t>Governance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B11E0C3-C21F-75D3-8A8D-2E3422D8E870}"/>
              </a:ext>
            </a:extLst>
          </p:cNvPr>
          <p:cNvSpPr txBox="1"/>
          <p:nvPr/>
        </p:nvSpPr>
        <p:spPr>
          <a:xfrm>
            <a:off x="8009824" y="4038424"/>
            <a:ext cx="393424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Multi-signal fraud detection across documents, biometrics and trusted records.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E6935D1-9851-7DF4-E12F-93DD4734B1B7}"/>
              </a:ext>
            </a:extLst>
          </p:cNvPr>
          <p:cNvSpPr txBox="1"/>
          <p:nvPr/>
        </p:nvSpPr>
        <p:spPr>
          <a:xfrm>
            <a:off x="8009824" y="5374433"/>
            <a:ext cx="419009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Tamper-evident verification history for accountability and investigation.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42875" y="1520153"/>
            <a:ext cx="11887061" cy="45243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b="1" dirty="0">
                <a:latin typeface="Aptos" panose="020B0004020202020204" pitchFamily="34" charset="0"/>
              </a:rPr>
              <a:t>ICAO Doc 9303</a:t>
            </a:r>
            <a:br>
              <a:rPr lang="en-US" dirty="0">
                <a:latin typeface="Aptos" panose="020B0004020202020204" pitchFamily="34" charset="0"/>
              </a:rPr>
            </a:br>
            <a:r>
              <a:rPr lang="en-US" dirty="0">
                <a:latin typeface="Aptos" panose="020B0004020202020204" pitchFamily="34" charset="0"/>
                <a:hlinkClick r:id="rId3"/>
              </a:rPr>
              <a:t>https://www.icao.int/publications/documents/9303_p1_cons_en.pdf</a:t>
            </a:r>
            <a:endParaRPr lang="en-US" dirty="0">
              <a:latin typeface="Aptos" panose="020B0004020202020204" pitchFamily="34" charset="0"/>
            </a:endParaRPr>
          </a:p>
          <a:p>
            <a:r>
              <a:rPr lang="en-US" b="1" dirty="0" err="1">
                <a:latin typeface="Aptos" panose="020B0004020202020204" pitchFamily="34" charset="0"/>
              </a:rPr>
              <a:t>ArcFace</a:t>
            </a:r>
            <a:r>
              <a:rPr lang="en-US" b="1" dirty="0">
                <a:latin typeface="Aptos" panose="020B0004020202020204" pitchFamily="34" charset="0"/>
              </a:rPr>
              <a:t>, Deng et al.</a:t>
            </a:r>
            <a:br>
              <a:rPr lang="en-US" dirty="0">
                <a:latin typeface="Aptos" panose="020B0004020202020204" pitchFamily="34" charset="0"/>
              </a:rPr>
            </a:br>
            <a:r>
              <a:rPr lang="en-US" dirty="0">
                <a:latin typeface="Aptos" panose="020B0004020202020204" pitchFamily="34" charset="0"/>
                <a:hlinkClick r:id="rId4"/>
              </a:rPr>
              <a:t>https://openaccess.thecvf.com/content_CVPR_2019/html/Deng_ArcFace_Additive_Angular_Margin_Loss_for_Deep_Face_Recognition_CVPR_2019_paper.html</a:t>
            </a:r>
            <a:endParaRPr lang="en-US" dirty="0">
              <a:latin typeface="Aptos" panose="020B0004020202020204" pitchFamily="34" charset="0"/>
            </a:endParaRPr>
          </a:p>
          <a:p>
            <a:r>
              <a:rPr lang="en-US" b="1" dirty="0" err="1">
                <a:latin typeface="Aptos" panose="020B0004020202020204" pitchFamily="34" charset="0"/>
              </a:rPr>
              <a:t>TruFor</a:t>
            </a:r>
            <a:r>
              <a:rPr lang="en-US" b="1" dirty="0">
                <a:latin typeface="Aptos" panose="020B0004020202020204" pitchFamily="34" charset="0"/>
              </a:rPr>
              <a:t>, </a:t>
            </a:r>
            <a:r>
              <a:rPr lang="en-US" b="1" dirty="0" err="1">
                <a:latin typeface="Aptos" panose="020B0004020202020204" pitchFamily="34" charset="0"/>
              </a:rPr>
              <a:t>Guillaro</a:t>
            </a:r>
            <a:r>
              <a:rPr lang="en-US" b="1" dirty="0">
                <a:latin typeface="Aptos" panose="020B0004020202020204" pitchFamily="34" charset="0"/>
              </a:rPr>
              <a:t> et al.</a:t>
            </a:r>
            <a:br>
              <a:rPr lang="en-US" dirty="0">
                <a:latin typeface="Aptos" panose="020B0004020202020204" pitchFamily="34" charset="0"/>
              </a:rPr>
            </a:br>
            <a:r>
              <a:rPr lang="en-US" dirty="0">
                <a:latin typeface="Aptos" panose="020B0004020202020204" pitchFamily="34" charset="0"/>
                <a:hlinkClick r:id="rId5"/>
              </a:rPr>
              <a:t>https://openaccess.thecvf.com/content/CVPR2023/html/Guillaro_TruFor_Leveraging_All-Round_Clues_for_Trustworthy_Image_Forgery_Detection_and_CVPR_2023_paper.html</a:t>
            </a:r>
            <a:endParaRPr lang="en-US" dirty="0">
              <a:latin typeface="Aptos" panose="020B0004020202020204" pitchFamily="34" charset="0"/>
            </a:endParaRPr>
          </a:p>
          <a:p>
            <a:r>
              <a:rPr lang="en-US" b="1" dirty="0" err="1">
                <a:latin typeface="Aptos" panose="020B0004020202020204" pitchFamily="34" charset="0"/>
              </a:rPr>
              <a:t>PaddleOCR</a:t>
            </a:r>
            <a:br>
              <a:rPr lang="en-US" dirty="0">
                <a:latin typeface="Aptos" panose="020B0004020202020204" pitchFamily="34" charset="0"/>
              </a:rPr>
            </a:br>
            <a:r>
              <a:rPr lang="en-US" dirty="0">
                <a:latin typeface="Aptos" panose="020B0004020202020204" pitchFamily="34" charset="0"/>
                <a:hlinkClick r:id="rId6"/>
              </a:rPr>
              <a:t>https://github.com/PaddlePaddle/PaddleOCR</a:t>
            </a:r>
            <a:endParaRPr lang="en-US" dirty="0">
              <a:latin typeface="Aptos" panose="020B0004020202020204" pitchFamily="34" charset="0"/>
            </a:endParaRPr>
          </a:p>
          <a:p>
            <a:r>
              <a:rPr lang="en-US" b="1" dirty="0" err="1">
                <a:latin typeface="Aptos" panose="020B0004020202020204" pitchFamily="34" charset="0"/>
              </a:rPr>
              <a:t>DocTamper</a:t>
            </a:r>
            <a:r>
              <a:rPr lang="en-US" b="1" dirty="0">
                <a:latin typeface="Aptos" panose="020B0004020202020204" pitchFamily="34" charset="0"/>
              </a:rPr>
              <a:t> Benchmark</a:t>
            </a:r>
            <a:br>
              <a:rPr lang="en-US" dirty="0">
                <a:latin typeface="Aptos" panose="020B0004020202020204" pitchFamily="34" charset="0"/>
              </a:rPr>
            </a:br>
            <a:r>
              <a:rPr lang="en-US" dirty="0">
                <a:latin typeface="Aptos" panose="020B0004020202020204" pitchFamily="34" charset="0"/>
                <a:hlinkClick r:id="rId7"/>
              </a:rPr>
              <a:t>https://github.com/qcf-568/DocTamper</a:t>
            </a:r>
            <a:endParaRPr lang="en-US" dirty="0">
              <a:latin typeface="Aptos" panose="020B0004020202020204" pitchFamily="34" charset="0"/>
            </a:endParaRPr>
          </a:p>
          <a:p>
            <a:r>
              <a:rPr lang="en-US" b="1" dirty="0">
                <a:latin typeface="Aptos" panose="020B0004020202020204" pitchFamily="34" charset="0"/>
              </a:rPr>
              <a:t>CASIA Tampering Dataset</a:t>
            </a:r>
            <a:br>
              <a:rPr lang="en-US" dirty="0">
                <a:latin typeface="Aptos" panose="020B0004020202020204" pitchFamily="34" charset="0"/>
              </a:rPr>
            </a:br>
            <a:r>
              <a:rPr lang="en-US" dirty="0">
                <a:latin typeface="Aptos" panose="020B0004020202020204" pitchFamily="34" charset="0"/>
              </a:rPr>
              <a:t>https://github.com/yinanhe/CAISA2.0</a:t>
            </a:r>
          </a:p>
          <a:p>
            <a:r>
              <a:rPr lang="en-US" b="1" dirty="0">
                <a:latin typeface="Aptos" panose="020B0004020202020204" pitchFamily="34" charset="0"/>
              </a:rPr>
              <a:t>Smart India Hackathon</a:t>
            </a:r>
            <a:br>
              <a:rPr lang="en-US" dirty="0">
                <a:latin typeface="Aptos" panose="020B0004020202020204" pitchFamily="34" charset="0"/>
              </a:rPr>
            </a:br>
            <a:r>
              <a:rPr lang="en-US" dirty="0">
                <a:latin typeface="Aptos" panose="020B0004020202020204" pitchFamily="34" charset="0"/>
                <a:hlinkClick r:id="rId8"/>
              </a:rPr>
              <a:t>https://www.sih.gov.in/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914249AF-9F9C-C2A8-99C9-B76D9FAF47E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52214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Tech</a:t>
            </a:r>
          </a:p>
          <a:p>
            <a:pPr algn="ctr"/>
            <a:r>
              <a:rPr lang="en-US" dirty="0"/>
              <a:t>Scale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8972</TotalTime>
  <Words>701</Words>
  <Application>Microsoft Office PowerPoint</Application>
  <PresentationFormat>Widescreen</PresentationFormat>
  <Paragraphs>118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Aptos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MEIYARI</vt:lpstr>
      <vt:lpstr>TECHNICAL APPROACHS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sharathi m</cp:lastModifiedBy>
  <cp:revision>153</cp:revision>
  <dcterms:created xsi:type="dcterms:W3CDTF">2013-12-12T18:46:50Z</dcterms:created>
  <dcterms:modified xsi:type="dcterms:W3CDTF">2026-09-11T03:44:57Z</dcterms:modified>
  <cp:category/>
</cp:coreProperties>
</file>